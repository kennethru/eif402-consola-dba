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ff470b3e-8189-29e2-66b3-5d1373752597}">
          <p14:sldIdLst>
            <p14:sldId id="256"/>
            <p14:sldId id="257"/>
            <p14:sldId id="258"/>
          </p14:sldIdLst>
        </p14:section>
        <p14:section name="Demostración" id="{d188d1df-6cc9-f6c1-99cb-893649d587da}">
          <p14:sldIdLst>
            <p14:sldId id="259"/>
            <p14:sldId id="260"/>
            <p14:sldId id="261"/>
            <p14:sldId id="262"/>
            <p14:sldId id="263"/>
          </p14:sldIdLst>
        </p14:section>
        <p14:section name="Cierre" id="{04ee508d-e855-a43a-0466-301f026c4264}">
          <p14:sldIdLst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Kenneth abre. 20 segundos: somos el Grupo 2, presentamos una consola web que monitorea una instancia de SQL Server leyendo su propio catálogo y sus vistas de administración dinámica. Todo lo que van a ver sale del gestor en vivo, no hay datos simulados.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Kenneth. 45 segundos. El caso pedía resolver siete problemas concretos. No construimos un gestor nuevo: construimos la capa que faltaba entre el DBA y el gestor. La diferencia clave es que no mostramos datos crudos, los interpretamos.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Kenneth. 1 minuto. Tres capas con responsabilidades separadas, como pedía la especificación. Si preguntan por qué no usamos 'sa': porque una herramienta de monitoreo no necesita privilegios de administrador total. Creamos un login dedicado con los permisos justos. Y las acciones que modifican el estado del gestor pasan siempre por procedimientos almacenados con parámetros, nunca por SQL concatenado: eso evita inyección.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Kenneth cierra su parte y pasa a Laura. Transición: 'antes de ver los módulos, Laura explica qué hay del lado de la base de datos'.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Laura. 2 minutos y medio. Explicar que el esquema dba no reemplaza nada del gestor: agrega lo que SQL Server no guarda. Y que toda acción de mantenimiento pasa por procedimiento almacenado, lo que además deja traza en la bitácora. El recuadro ámbar es un hallazgo real de la implementación: si preguntan por permisos, ese es el ejemplo que demuestra que entendimos el modelo de seguridad.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Brenda. 3 minutos y medio, con demostración en vivo. Mostrar M1: servidor, instancia, versión, uptime corriendo en tiempo real, memoria y las bases. Señalar que el selector de instancia permite cambiar de conexión sin tocar el código. Luego M2: cambiar el criterio de ordenamiento en vivo para mostrar que son consultas distintas. Si hay tiempo, abrir dos sesiones en Azure Data Studio y provocar un bloqueo para que aparezca.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Ahymara. 3 minutos, con demostración. Abrir M3 y señalar la desproporción del log: no es un defecto de la herramienta, es el problema que la herramienta encontró. Mostrar los objetos de mayor consumo y el botón 'Registrar captura'. Luego M4: el riesgo ALTO de QuinielasDB junto a las otras bases también en ALTO. Si preguntan por qué backupset nunca muestra fallos: porque solo almacena respaldos exitosos; los fallos vienen de msdb.dbo.sysjobhistory con run_status =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Mariana. 3 minutos, con demostración. Abrir M5 y señalar que el diagnóstico de seguridad no es una lista: son hallazgos que la herramienta dedujo. Mostrar los privilegios de dba_monitor acotados al esquema quiniela. Luego M6: ejecutar 'Recalcular estadísticas' en vivo sobre quiniela.Pronostico y mostrar la confirmación con el comando ejecutado y la duración; después bajar a la bitácora y mostrar que quedó registrado con fecha, resultado y usuario. Si hay tiempo, ejecutar 'Validar objetos' para mostrar la detección.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Kenneth. 1 minuto. Mostrar el repositorio en pantalla: estructura de carpetas, historial de commits con las cinco cuentas, y las fechas distribuidas. La especificación pide mostrar esto explícitamente durante la exposición.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Cualquiera puede presentar esta diapositiva; conviene que la tome quien se sienta más cómoda con la parte técnica. 1 minuto. El mensaje es que probamos contra datos reales, no contra una base de juguete. Estos cuatro problemas son la evidencia.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Kenneth cierra. 20 segundos. Dejar la consola abierta en pantalla durante las preguntas, no esta diapositiva. Preguntas probables: diferencia entre servidor, instancia y base de datos; permisos requeridos; por qué no se usa 'sa'; cómo se manejan los errores de conexión.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0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10312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 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56616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CCD6DE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rgbClr val="CCD6DE"/>
                </a:solidFill>
              </a:rPr>
              <a:t> 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SOR">
    <p:bg>
      <p:bgPr>
        <a:solidFill>
          <a:srgbClr val="0A6A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56032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 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65760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D7EBEC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rgbClr val="D7EBEC"/>
                </a:solidFill>
              </a:rPr>
              <a:t> 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 </a:t>
            </a: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6263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D8D"/>
                </a:solidFill>
              </a:rPr>
              <a:t>EIF402 · Grupo 2 · Consola DBA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rgbClr val="10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 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566160"/>
            <a:ext cx="105156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CCD6DE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rgbClr val="CCD6DE"/>
                </a:solidFill>
              </a:rPr>
              <a:t> 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600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A6A70"/>
                </a:solidFill>
              </a:rPr>
              <a:t>EIF402 · PROYECTO INTEGRADOR · II CICLO 2026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21031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Consola DBA para Microsoft SQL Server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822960" y="35661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CD6DE"/>
                </a:solidFill>
              </a:rPr>
              <a:t>Herramienta de monitoreo, administración y auditoría de un SGBD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6B7D8D"/>
                </a:solidFill>
              </a:rPr>
              <a:t>DataSolutions Costa Rica S.A. · Equipo consultor</a:t>
            </a:r>
            <a:endParaRPr lang="en-US" sz="16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CCD6DE"/>
                </a:solidFill>
              </a:rPr>
              <a:t> </a:t>
            </a:r>
            <a:endParaRPr lang="en-US" sz="16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CD6DE"/>
                </a:solidFill>
              </a:rPr>
              <a:t>Laura Fonseca  ·  Kenneth Ramírez  ·  Brenda Serrano  ·  Ahymara Ureña  ·  Mariana Villalobos</a:t>
            </a:r>
            <a:endParaRPr lang="en-US" sz="1600" dirty="0"/>
          </a:p>
        </p:txBody>
      </p:sp>
      <p:sp>
        <p:nvSpPr>
          <p:cNvPr id="5" name="marca-portada"/>
          <p:cNvSpPr/>
          <p:nvPr/>
        </p:nvSpPr>
        <p:spPr>
          <a:xfrm>
            <a:off x="822960" y="5943600"/>
            <a:ext cx="1463040" cy="41148"/>
          </a:xfrm>
          <a:prstGeom prst="rect">
            <a:avLst/>
          </a:prstGeom>
          <a:solidFill>
            <a:srgbClr val="0A6A70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Lo que pedía DataSolutions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D4D5C"/>
                </a:solidFill>
              </a:rPr>
              <a:t>El departamento de TI administra varias bases en SQL Server y consulta todo a mano, vista por vista. Eso retrasa el diagnóstico y dificulta decidir a tiempo.</a:t>
            </a:r>
            <a:endParaRPr lang="en-US" sz="1400" dirty="0"/>
          </a:p>
        </p:txBody>
      </p:sp>
      <p:sp>
        <p:nvSpPr>
          <p:cNvPr id="4" name="punto-0"/>
          <p:cNvSpPr/>
          <p:nvPr/>
        </p:nvSpPr>
        <p:spPr>
          <a:xfrm>
            <a:off x="658368" y="2340864"/>
            <a:ext cx="146304" cy="146304"/>
          </a:xfrm>
          <a:prstGeom prst="ellipse">
            <a:avLst/>
          </a:prstGeom>
          <a:solidFill>
            <a:srgbClr val="A12B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24028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1A24"/>
                </a:solidFill>
              </a:rPr>
              <a:t>Consultas críticas con tiempos de respuesta crecientes</a:t>
            </a:r>
            <a:endParaRPr lang="en-US" sz="1350" dirty="0"/>
          </a:p>
        </p:txBody>
      </p:sp>
      <p:sp>
        <p:nvSpPr>
          <p:cNvPr id="6" name="punto-1"/>
          <p:cNvSpPr/>
          <p:nvPr/>
        </p:nvSpPr>
        <p:spPr>
          <a:xfrm>
            <a:off x="658368" y="2916936"/>
            <a:ext cx="146304" cy="146304"/>
          </a:xfrm>
          <a:prstGeom prst="ellipse">
            <a:avLst/>
          </a:prstGeom>
          <a:solidFill>
            <a:srgbClr val="A56A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816352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1A24"/>
                </a:solidFill>
              </a:rPr>
              <a:t>Crecimiento acelerado del almacenamiento</a:t>
            </a:r>
            <a:endParaRPr lang="en-US" sz="1350" dirty="0"/>
          </a:p>
        </p:txBody>
      </p:sp>
      <p:sp>
        <p:nvSpPr>
          <p:cNvPr id="8" name="punto-2"/>
          <p:cNvSpPr/>
          <p:nvPr/>
        </p:nvSpPr>
        <p:spPr>
          <a:xfrm>
            <a:off x="658368" y="3493008"/>
            <a:ext cx="146304" cy="146304"/>
          </a:xfrm>
          <a:prstGeom prst="ellipse">
            <a:avLst/>
          </a:prstGeom>
          <a:solidFill>
            <a:srgbClr val="0A6A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392424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1A24"/>
                </a:solidFill>
              </a:rPr>
              <a:t>Sin mecanismo centralizado de monitoreo del servidor</a:t>
            </a:r>
            <a:endParaRPr lang="en-US" sz="1350" dirty="0"/>
          </a:p>
        </p:txBody>
      </p:sp>
      <p:sp>
        <p:nvSpPr>
          <p:cNvPr id="10" name="punto-3"/>
          <p:cNvSpPr/>
          <p:nvPr/>
        </p:nvSpPr>
        <p:spPr>
          <a:xfrm>
            <a:off x="658368" y="4069080"/>
            <a:ext cx="146304" cy="146304"/>
          </a:xfrm>
          <a:prstGeom prst="ellipse">
            <a:avLst/>
          </a:prstGeom>
          <a:solidFill>
            <a:srgbClr val="A56A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3968496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1A24"/>
                </a:solidFill>
              </a:rPr>
              <a:t>Escasa visibilidad del estado de las copias de seguridad</a:t>
            </a:r>
            <a:endParaRPr lang="en-US" sz="1350" dirty="0"/>
          </a:p>
        </p:txBody>
      </p:sp>
      <p:sp>
        <p:nvSpPr>
          <p:cNvPr id="12" name="punto-4"/>
          <p:cNvSpPr/>
          <p:nvPr/>
        </p:nvSpPr>
        <p:spPr>
          <a:xfrm>
            <a:off x="658368" y="4645152"/>
            <a:ext cx="146304" cy="146304"/>
          </a:xfrm>
          <a:prstGeom prst="ellipse">
            <a:avLst/>
          </a:prstGeom>
          <a:solidFill>
            <a:srgbClr val="A12B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4544568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1A24"/>
                </a:solidFill>
              </a:rPr>
              <a:t>Necesidad de verificar objetos inválidos periódicamente</a:t>
            </a:r>
            <a:endParaRPr lang="en-US" sz="1350" dirty="0"/>
          </a:p>
        </p:txBody>
      </p:sp>
      <p:sp>
        <p:nvSpPr>
          <p:cNvPr id="14" name="punto-5"/>
          <p:cNvSpPr/>
          <p:nvPr/>
        </p:nvSpPr>
        <p:spPr>
          <a:xfrm>
            <a:off x="658368" y="5221224"/>
            <a:ext cx="146304" cy="146304"/>
          </a:xfrm>
          <a:prstGeom prst="ellipse">
            <a:avLst/>
          </a:prstGeom>
          <a:solidFill>
            <a:srgbClr val="0A6A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512064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1A24"/>
                </a:solidFill>
              </a:rPr>
              <a:t>Ausencia de indicadores gráficos de salud del sistema</a:t>
            </a:r>
            <a:endParaRPr lang="en-US" sz="1350" dirty="0"/>
          </a:p>
        </p:txBody>
      </p:sp>
      <p:sp>
        <p:nvSpPr>
          <p:cNvPr id="16" name="panel-respuesta"/>
          <p:cNvSpPr/>
          <p:nvPr/>
        </p:nvSpPr>
        <p:spPr>
          <a:xfrm>
            <a:off x="8138160" y="1280160"/>
            <a:ext cx="3474720" cy="4434840"/>
          </a:xfrm>
          <a:prstGeom prst="roundRect">
            <a:avLst>
              <a:gd name="adj" fmla="val 1579"/>
            </a:avLst>
          </a:prstGeom>
          <a:solidFill>
            <a:srgbClr val="101A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0" y="1600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8FB8BB"/>
                </a:solidFill>
              </a:rPr>
              <a:t>NUESTRA RESPUESTA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19202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Una consola web con seis módulos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29260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CD6DE"/>
                </a:solidFill>
              </a:rPr>
              <a:t>Cada módulo consulta el catálogo del gestor y presenta el resultado con una lectura administrativa: umbrales, niveles de riesgo y recomendaciones.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44805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FB8BB"/>
                </a:solidFill>
              </a:rPr>
              <a:t>La herramienta no reimplementa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8FB8BB"/>
                </a:solidFill>
              </a:rPr>
              <a:t>la lógica del gestor: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8FB8BB"/>
                </a:solidFill>
              </a:rPr>
              <a:t>la interpreta.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Arquitectura en capas</a:t>
            </a:r>
            <a:endParaRPr lang="en-US" sz="3200" dirty="0"/>
          </a:p>
        </p:txBody>
      </p:sp>
      <p:sp>
        <p:nvSpPr>
          <p:cNvPr id="3" name="capa-0"/>
          <p:cNvSpPr/>
          <p:nvPr/>
        </p:nvSpPr>
        <p:spPr>
          <a:xfrm>
            <a:off x="640080" y="1417320"/>
            <a:ext cx="3429000" cy="1920240"/>
          </a:xfrm>
          <a:prstGeom prst="roundRect">
            <a:avLst>
              <a:gd name="adj" fmla="val 2857"/>
            </a:avLst>
          </a:prstGeom>
          <a:solidFill>
            <a:srgbClr val="0A6A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459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Navegador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08483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9D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8716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CD6DE"/>
                </a:solidFill>
              </a:rPr>
              <a:t>Seis vistas, gráficos, indicadores</a:t>
            </a:r>
            <a:endParaRPr lang="en-US" sz="1200" dirty="0"/>
          </a:p>
        </p:txBody>
      </p:sp>
      <p:sp>
        <p:nvSpPr>
          <p:cNvPr id="7" name="flecha-0"/>
          <p:cNvSpPr/>
          <p:nvPr/>
        </p:nvSpPr>
        <p:spPr>
          <a:xfrm>
            <a:off x="4133088" y="2331720"/>
            <a:ext cx="237744" cy="54864"/>
          </a:xfrm>
          <a:prstGeom prst="rect">
            <a:avLst/>
          </a:prstGeom>
          <a:solidFill>
            <a:srgbClr val="6B7D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capa-1"/>
          <p:cNvSpPr/>
          <p:nvPr/>
        </p:nvSpPr>
        <p:spPr>
          <a:xfrm>
            <a:off x="4434840" y="1417320"/>
            <a:ext cx="3429000" cy="1920240"/>
          </a:xfrm>
          <a:prstGeom prst="roundRect">
            <a:avLst>
              <a:gd name="adj" fmla="val 2857"/>
            </a:avLst>
          </a:prstGeom>
          <a:solidFill>
            <a:srgbClr val="0D52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6459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Servidor de aplicaciones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08483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9D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· patrón MVC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48716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CD6DE"/>
                </a:solidFill>
              </a:rPr>
              <a:t>Controlador → Servicio → Repositorio</a:t>
            </a:r>
            <a:endParaRPr lang="en-US" sz="1200" dirty="0"/>
          </a:p>
        </p:txBody>
      </p:sp>
      <p:sp>
        <p:nvSpPr>
          <p:cNvPr id="12" name="flecha-1"/>
          <p:cNvSpPr/>
          <p:nvPr/>
        </p:nvSpPr>
        <p:spPr>
          <a:xfrm>
            <a:off x="7927848" y="2331720"/>
            <a:ext cx="237744" cy="54864"/>
          </a:xfrm>
          <a:prstGeom prst="rect">
            <a:avLst/>
          </a:prstGeom>
          <a:solidFill>
            <a:srgbClr val="6B7D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capa-2"/>
          <p:cNvSpPr/>
          <p:nvPr/>
        </p:nvSpPr>
        <p:spPr>
          <a:xfrm>
            <a:off x="8229600" y="1417320"/>
            <a:ext cx="3429000" cy="1920240"/>
          </a:xfrm>
          <a:prstGeom prst="roundRect">
            <a:avLst>
              <a:gd name="adj" fmla="val 2857"/>
            </a:avLst>
          </a:prstGeom>
          <a:solidFill>
            <a:srgbClr val="101A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58200" y="16459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SGBD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458200" y="208483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9D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2022 · JDBC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458200" y="248716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CD6DE"/>
                </a:solidFill>
              </a:rPr>
              <a:t>Catálogo del sistema y DMV</a:t>
            </a:r>
            <a:endParaRPr lang="en-US" sz="1200" dirty="0"/>
          </a:p>
        </p:txBody>
      </p:sp>
      <p:sp>
        <p:nvSpPr>
          <p:cNvPr id="17" name="bloque-Separación de responsabilidades"/>
          <p:cNvSpPr/>
          <p:nvPr/>
        </p:nvSpPr>
        <p:spPr>
          <a:xfrm>
            <a:off x="640080" y="361188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EDF1F4"/>
          </a:solidFill>
          <a:ln w="9525">
            <a:solidFill>
              <a:srgbClr val="CCD6D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" y="3758184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0A6A70"/>
                </a:solidFill>
              </a:rPr>
              <a:t>SEPARACIÓN DE RESPONSABILIDADES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41248" y="4050792"/>
            <a:ext cx="499262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D5C"/>
                </a:solidFill>
              </a:rPr>
              <a:t>Controlador: expone la API y valida la entrada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D5C"/>
                </a:solidFill>
              </a:rPr>
              <a:t>Servicio: aplica umbrales y genera diagnósticos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D5C"/>
                </a:solidFill>
              </a:rPr>
              <a:t>Repositorio: ejecuta el T-SQL y mapea resultados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D5C"/>
                </a:solidFill>
              </a:rPr>
              <a:t>Un paquete Java por módulo, independientes entre sí</a:t>
            </a:r>
            <a:endParaRPr lang="en-US" sz="1250" dirty="0"/>
          </a:p>
        </p:txBody>
      </p:sp>
      <p:sp>
        <p:nvSpPr>
          <p:cNvPr id="20" name="bloque-Decisiones de seguridad"/>
          <p:cNvSpPr/>
          <p:nvPr/>
        </p:nvSpPr>
        <p:spPr>
          <a:xfrm>
            <a:off x="6217920" y="361188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EDF1F4"/>
          </a:solidFill>
          <a:ln w="9525">
            <a:solidFill>
              <a:srgbClr val="CCD6D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19088" y="3758184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0A6A70"/>
                </a:solidFill>
              </a:rPr>
              <a:t>DECISIONES DE SEGURIDAD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19088" y="4050792"/>
            <a:ext cx="499262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D5C"/>
                </a:solidFill>
              </a:rPr>
              <a:t>La app no se conecta con 'sa': usa dba_monitor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D5C"/>
                </a:solidFill>
              </a:rPr>
              <a:t>Permisos mínimos: VIEW SERVER STATE, VIEW ANY DEFINITION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D5C"/>
                </a:solidFill>
              </a:rPr>
              <a:t>Las acciones pasan por procedimientos almacenados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D5C"/>
                </a:solidFill>
              </a:rPr>
              <a:t>Credenciales en variables de entorno, nunca en el código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5603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Demostración en vivo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6576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7EBEC"/>
                </a:solidFill>
              </a:rPr>
              <a:t>Seis módulos sobre una instancia real · QuinielasDB · 422 629 registros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La capa de base de datos</a:t>
            </a:r>
            <a:endParaRPr lang="en-US" sz="3200" dirty="0"/>
          </a:p>
        </p:txBody>
      </p:sp>
      <p:sp>
        <p:nvSpPr>
          <p:cNvPr id="3" name="circulo-1"/>
          <p:cNvSpPr/>
          <p:nvPr/>
        </p:nvSpPr>
        <p:spPr>
          <a:xfrm>
            <a:off x="640080" y="1371600"/>
            <a:ext cx="475488" cy="475488"/>
          </a:xfrm>
          <a:prstGeom prst="ellipse">
            <a:avLst/>
          </a:prstGeom>
          <a:solidFill>
            <a:srgbClr val="0A6A70"/>
          </a:solidFill>
          <a:ln w="12700">
            <a:solidFill>
              <a:srgbClr val="0A6A7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1335024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1A24"/>
                </a:solidFill>
              </a:rPr>
              <a:t>Esquema dba de apoyo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1609344"/>
            <a:ext cx="4736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3D4D5C"/>
                </a:solidFill>
              </a:rPr>
              <a:t>SQL Server no conserva histórico de tamaño ni bitácora de mantenimiento. Tres tablas propias lo registran.</a:t>
            </a:r>
            <a:endParaRPr lang="en-US" sz="1250" dirty="0"/>
          </a:p>
        </p:txBody>
      </p:sp>
      <p:sp>
        <p:nvSpPr>
          <p:cNvPr id="7" name="circulo-2"/>
          <p:cNvSpPr/>
          <p:nvPr/>
        </p:nvSpPr>
        <p:spPr>
          <a:xfrm>
            <a:off x="640080" y="2377440"/>
            <a:ext cx="475488" cy="475488"/>
          </a:xfrm>
          <a:prstGeom prst="ellipse">
            <a:avLst/>
          </a:prstGeom>
          <a:solidFill>
            <a:srgbClr val="0A6A70"/>
          </a:solidFill>
          <a:ln w="12700">
            <a:solidFill>
              <a:srgbClr val="0A6A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377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98448" y="2340864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1A24"/>
                </a:solidFill>
              </a:rPr>
              <a:t>Cuatro procedimientos almacenados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2615184"/>
            <a:ext cx="4736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3D4D5C"/>
                </a:solidFill>
              </a:rPr>
              <a:t>Snapshot de almacenamiento, recálculo de estadísticas, validación y recompilación de módulos.</a:t>
            </a:r>
            <a:endParaRPr lang="en-US" sz="1250" dirty="0"/>
          </a:p>
        </p:txBody>
      </p:sp>
      <p:sp>
        <p:nvSpPr>
          <p:cNvPr id="11" name="circulo-3"/>
          <p:cNvSpPr/>
          <p:nvPr/>
        </p:nvSpPr>
        <p:spPr>
          <a:xfrm>
            <a:off x="640080" y="3383280"/>
            <a:ext cx="475488" cy="475488"/>
          </a:xfrm>
          <a:prstGeom prst="ellipse">
            <a:avLst/>
          </a:prstGeom>
          <a:solidFill>
            <a:srgbClr val="0A6A70"/>
          </a:solidFill>
          <a:ln w="12700">
            <a:solidFill>
              <a:srgbClr val="0A6A7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383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98448" y="3346704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1A24"/>
                </a:solidFill>
              </a:rPr>
              <a:t>Catálogo documentado de consultas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3621024"/>
            <a:ext cx="4736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3D4D5C"/>
                </a:solidFill>
              </a:rPr>
              <a:t>Las ~25 consultas administrativas del proyecto, con su fuente y permiso requerido.</a:t>
            </a:r>
            <a:endParaRPr lang="en-US" sz="1250" dirty="0"/>
          </a:p>
        </p:txBody>
      </p:sp>
      <p:sp>
        <p:nvSpPr>
          <p:cNvPr id="15" name="circulo-4"/>
          <p:cNvSpPr/>
          <p:nvPr/>
        </p:nvSpPr>
        <p:spPr>
          <a:xfrm>
            <a:off x="640080" y="4389120"/>
            <a:ext cx="475488" cy="475488"/>
          </a:xfrm>
          <a:prstGeom prst="ellipse">
            <a:avLst/>
          </a:prstGeom>
          <a:solidFill>
            <a:srgbClr val="0A6A70"/>
          </a:solidFill>
          <a:ln w="12700">
            <a:solidFill>
              <a:srgbClr val="0A6A7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389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98448" y="4352544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1A24"/>
                </a:solidFill>
              </a:rPr>
              <a:t>Usuario con privilegios mínimos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4626864"/>
            <a:ext cx="4736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3D4D5C"/>
                </a:solidFill>
              </a:rPr>
              <a:t>dba_monitor acotado al esquema de la aplicación, sin pertenecer a ningún rol de servidor.</a:t>
            </a:r>
            <a:endParaRPr lang="en-US" sz="1250" dirty="0"/>
          </a:p>
        </p:txBody>
      </p:sp>
      <p:sp>
        <p:nvSpPr>
          <p:cNvPr id="19" name="bloque-Fuentes consultadas"/>
          <p:cNvSpPr/>
          <p:nvPr/>
        </p:nvSpPr>
        <p:spPr>
          <a:xfrm>
            <a:off x="6400800" y="1371600"/>
            <a:ext cx="5212080" cy="2148840"/>
          </a:xfrm>
          <a:prstGeom prst="roundRect">
            <a:avLst>
              <a:gd name="adj" fmla="val 2553"/>
            </a:avLst>
          </a:prstGeom>
          <a:solidFill>
            <a:srgbClr val="EDF1F4"/>
          </a:solidFill>
          <a:ln w="9525">
            <a:solidFill>
              <a:srgbClr val="CCD6D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01968" y="1517904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0A6A70"/>
                </a:solidFill>
              </a:rPr>
              <a:t>FUENTES CONSULTADAS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601968" y="1810512"/>
            <a:ext cx="4809744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D5C"/>
                </a:solidFill>
              </a:rPr>
              <a:t>SERVERPROPERTY y sys.dm_os_sys_info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D5C"/>
                </a:solidFill>
              </a:rPr>
              <a:t>sys.dm_exec_query_stats y dm_exec_sessions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D5C"/>
                </a:solidFill>
              </a:rPr>
              <a:t>sys.database_files y FILEPROPERTY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D5C"/>
                </a:solidFill>
              </a:rPr>
              <a:t>msdb.dbo.backupset y sysjobhistory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D5C"/>
                </a:solidFill>
              </a:rPr>
              <a:t>sys.database_permissions y sql_expression_dependencies</a:t>
            </a:r>
            <a:endParaRPr lang="en-US" sz="1250" dirty="0"/>
          </a:p>
        </p:txBody>
      </p:sp>
      <p:sp>
        <p:nvSpPr>
          <p:cNvPr id="22" name="hallazgo-permiso"/>
          <p:cNvSpPr/>
          <p:nvPr/>
        </p:nvSpPr>
        <p:spPr>
          <a:xfrm>
            <a:off x="6400800" y="3703320"/>
            <a:ext cx="5212080" cy="2011680"/>
          </a:xfrm>
          <a:prstGeom prst="roundRect">
            <a:avLst>
              <a:gd name="adj" fmla="val 2727"/>
            </a:avLst>
          </a:prstGeom>
          <a:solidFill>
            <a:srgbClr val="FBF4E5"/>
          </a:solidFill>
          <a:ln w="9525">
            <a:solidFill>
              <a:srgbClr val="E8D3A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38862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6B4600"/>
                </a:solidFill>
              </a:rPr>
              <a:t>UN PERMISO QUE NO SE HEREDA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420624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4600"/>
                </a:solidFill>
              </a:rPr>
              <a:t>sys.sql_expression_dependencies reside en mssqlsystemresource, una base oculta del sistema, y exige un GRANT SELECT explícito. Ni VIEW DEFINITION a nivel de esquema ni a nivel de base alcanzan. Lo descubrimos cuando el módulo 5 falló con el error 229.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Instancia y rendimiento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A6A70"/>
                </a:solidFill>
              </a:rPr>
              <a:t>MÓDULO 1 · ESTADO DE LA INSTANCIA</a:t>
            </a:r>
            <a:endParaRPr lang="en-US" sz="1100" dirty="0"/>
          </a:p>
        </p:txBody>
      </p:sp>
      <p:sp>
        <p:nvSpPr>
          <p:cNvPr id="4" name="tarjeta-Estado"/>
          <p:cNvSpPr/>
          <p:nvPr/>
        </p:nvSpPr>
        <p:spPr>
          <a:xfrm>
            <a:off x="640080" y="1572768"/>
            <a:ext cx="1691640" cy="1371600"/>
          </a:xfrm>
          <a:prstGeom prst="roundRect">
            <a:avLst>
              <a:gd name="adj" fmla="val 4000"/>
            </a:avLst>
          </a:prstGeom>
          <a:solidFill>
            <a:srgbClr val="EDF1F4"/>
          </a:solidFill>
          <a:ln w="9525">
            <a:solidFill>
              <a:srgbClr val="CCD6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82496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2257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3D4D5C"/>
                </a:solidFill>
              </a:rPr>
              <a:t>ESTADO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4203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D8D"/>
                </a:solidFill>
              </a:rPr>
              <a:t>Developer Edition</a:t>
            </a:r>
            <a:endParaRPr lang="en-US" sz="1000" dirty="0"/>
          </a:p>
        </p:txBody>
      </p:sp>
      <p:sp>
        <p:nvSpPr>
          <p:cNvPr id="8" name="tarjeta-Versión"/>
          <p:cNvSpPr/>
          <p:nvPr/>
        </p:nvSpPr>
        <p:spPr>
          <a:xfrm>
            <a:off x="2487168" y="1572768"/>
            <a:ext cx="1691640" cy="1371600"/>
          </a:xfrm>
          <a:prstGeom prst="roundRect">
            <a:avLst>
              <a:gd name="adj" fmla="val 4000"/>
            </a:avLst>
          </a:prstGeom>
          <a:solidFill>
            <a:srgbClr val="EDF1F4"/>
          </a:solidFill>
          <a:ln w="9525">
            <a:solidFill>
              <a:srgbClr val="CCD6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24328" y="1682496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16.0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624328" y="232257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3D4D5C"/>
                </a:solidFill>
              </a:rPr>
              <a:t>VERSIÓN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624328" y="254203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D8D"/>
                </a:solidFill>
              </a:rPr>
              <a:t>SQL Server 2022</a:t>
            </a:r>
            <a:endParaRPr lang="en-US" sz="1000" dirty="0"/>
          </a:p>
        </p:txBody>
      </p:sp>
      <p:sp>
        <p:nvSpPr>
          <p:cNvPr id="12" name="tarjeta-Bases"/>
          <p:cNvSpPr/>
          <p:nvPr/>
        </p:nvSpPr>
        <p:spPr>
          <a:xfrm>
            <a:off x="4334256" y="1572768"/>
            <a:ext cx="1691640" cy="1371600"/>
          </a:xfrm>
          <a:prstGeom prst="roundRect">
            <a:avLst>
              <a:gd name="adj" fmla="val 4000"/>
            </a:avLst>
          </a:prstGeom>
          <a:solidFill>
            <a:srgbClr val="EDF1F4"/>
          </a:solidFill>
          <a:ln w="9525">
            <a:solidFill>
              <a:srgbClr val="CCD6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71416" y="1682496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4471416" y="232257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3D4D5C"/>
                </a:solidFill>
              </a:rPr>
              <a:t>BASES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471416" y="254203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D8D"/>
                </a:solidFill>
              </a:rPr>
              <a:t>administradas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2004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A6A70"/>
                </a:solidFill>
              </a:rPr>
              <a:t>MÓDULO 2 · MONITOREO DE RENDIMIENTO</a:t>
            </a:r>
            <a:endParaRPr lang="en-US" sz="1100" dirty="0"/>
          </a:p>
        </p:txBody>
      </p:sp>
      <p:sp>
        <p:nvSpPr>
          <p:cNvPr id="17" name="bloque-Qué muestra"/>
          <p:cNvSpPr/>
          <p:nvPr/>
        </p:nvSpPr>
        <p:spPr>
          <a:xfrm>
            <a:off x="640080" y="3538728"/>
            <a:ext cx="5394960" cy="2194560"/>
          </a:xfrm>
          <a:prstGeom prst="roundRect">
            <a:avLst>
              <a:gd name="adj" fmla="val 2500"/>
            </a:avLst>
          </a:prstGeom>
          <a:solidFill>
            <a:srgbClr val="EDF1F4"/>
          </a:solidFill>
          <a:ln w="9525">
            <a:solidFill>
              <a:srgbClr val="CCD6D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" y="3685032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0A6A70"/>
                </a:solidFill>
              </a:rPr>
              <a:t>QUÉ MUESTRA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41248" y="3977640"/>
            <a:ext cx="499262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D5C"/>
                </a:solidFill>
              </a:rPr>
              <a:t>Consultas de mayor consumo, ordenables por CPU, duración o lecturas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D5C"/>
                </a:solidFill>
              </a:rPr>
              <a:t>Sesiones activas con usuario, aplicación y recursos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D5C"/>
                </a:solidFill>
              </a:rPr>
              <a:t>Detección de bloqueos entre transacciones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D5C"/>
                </a:solidFill>
              </a:rPr>
              <a:t>Principales tipos de espera de la instancia</a:t>
            </a:r>
            <a:endParaRPr lang="en-US" sz="1250" dirty="0"/>
          </a:p>
        </p:txBody>
      </p:sp>
      <p:sp>
        <p:nvSpPr>
          <p:cNvPr id="20" name="panel-defensa-m2"/>
          <p:cNvSpPr/>
          <p:nvPr/>
        </p:nvSpPr>
        <p:spPr>
          <a:xfrm>
            <a:off x="6400800" y="1234440"/>
            <a:ext cx="5212080" cy="4480560"/>
          </a:xfrm>
          <a:prstGeom prst="roundRect">
            <a:avLst>
              <a:gd name="adj" fmla="val 1224"/>
            </a:avLst>
          </a:prstGeom>
          <a:solidFill>
            <a:srgbClr val="101A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75120" y="14630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8FB8BB"/>
                </a:solidFill>
              </a:rPr>
              <a:t>PARA LA DEFENSA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17830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¿Por qué ordenar por total_worker_time y no por total_elapsed_time?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260604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CD6DE"/>
                </a:solidFill>
              </a:rPr>
              <a:t>El primero es tiempo de CPU real. El segundo incluye esperas por bloqueo o entrada/salida: una consulta lenta por bloqueo no es una consulta costosa en CPU.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CCD6DE"/>
                </a:solidFill>
              </a:rPr>
              <a:t>La consola permite ordenar por ambos criterios justamente para distinguirlos.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675120" y="41148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El caché de planes no es un histórico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675120" y="448056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CD6DE"/>
                </a:solidFill>
              </a:rPr>
              <a:t>Los contadores se acumulan desde que se creó el plan y se pierden al reiniciar la instancia o al ejecutar DBCC FREEPROCCACHE. Para histórico real se usaría Query Store.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Almacenamiento y respaldos</a:t>
            </a:r>
            <a:endParaRPr lang="en-US" sz="3200" dirty="0"/>
          </a:p>
        </p:txBody>
      </p:sp>
      <p:sp>
        <p:nvSpPr>
          <p:cNvPr id="3" name="tarjeta-Tamaño total"/>
          <p:cNvSpPr/>
          <p:nvPr/>
        </p:nvSpPr>
        <p:spPr>
          <a:xfrm>
            <a:off x="64008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EDF1F4"/>
          </a:solidFill>
          <a:ln w="9525">
            <a:solidFill>
              <a:srgbClr val="CCD6DE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77240" y="138988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656 MB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2996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3D4D5C"/>
                </a:solidFill>
              </a:rPr>
              <a:t>TAMAÑO TOTAL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942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D8D"/>
                </a:solidFill>
              </a:rPr>
              <a:t>QuinielasDB</a:t>
            </a:r>
            <a:endParaRPr lang="en-US" sz="1000" dirty="0"/>
          </a:p>
        </p:txBody>
      </p:sp>
      <p:sp>
        <p:nvSpPr>
          <p:cNvPr id="7" name="tarjeta-Archivos de datos"/>
          <p:cNvSpPr/>
          <p:nvPr/>
        </p:nvSpPr>
        <p:spPr>
          <a:xfrm>
            <a:off x="3401568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EDF1F4"/>
          </a:solidFill>
          <a:ln w="9525">
            <a:solidFill>
              <a:srgbClr val="CCD6D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538728" y="138988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 MB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538728" y="202996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3D4D5C"/>
                </a:solidFill>
              </a:rPr>
              <a:t>ARCHIVOS DE DATOS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538728" y="224942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D8D"/>
                </a:solidFill>
              </a:rPr>
              <a:t>62,6 % de uso</a:t>
            </a:r>
            <a:endParaRPr lang="en-US" sz="1000" dirty="0"/>
          </a:p>
        </p:txBody>
      </p:sp>
      <p:sp>
        <p:nvSpPr>
          <p:cNvPr id="11" name="tarjeta-Registro de transacciones"/>
          <p:cNvSpPr/>
          <p:nvPr/>
        </p:nvSpPr>
        <p:spPr>
          <a:xfrm>
            <a:off x="6163056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EDF1F4"/>
          </a:solidFill>
          <a:ln w="9525">
            <a:solidFill>
              <a:srgbClr val="CCD6D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300216" y="138988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5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520 MB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300216" y="202996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3D4D5C"/>
                </a:solidFill>
              </a:rPr>
              <a:t>REGISTRO DE TRANSACCIONES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300216" y="224942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D8D"/>
                </a:solidFill>
              </a:rPr>
              <a:t>casi 4× los datos</a:t>
            </a:r>
            <a:endParaRPr lang="en-US" sz="1000" dirty="0"/>
          </a:p>
        </p:txBody>
      </p:sp>
      <p:sp>
        <p:nvSpPr>
          <p:cNvPr id="15" name="tarjeta-Riesgo de respaldo"/>
          <p:cNvSpPr/>
          <p:nvPr/>
        </p:nvSpPr>
        <p:spPr>
          <a:xfrm>
            <a:off x="8924544" y="1280160"/>
            <a:ext cx="2688336" cy="1371600"/>
          </a:xfrm>
          <a:prstGeom prst="roundRect">
            <a:avLst>
              <a:gd name="adj" fmla="val 4000"/>
            </a:avLst>
          </a:prstGeom>
          <a:solidFill>
            <a:srgbClr val="EDF1F4"/>
          </a:solidFill>
          <a:ln w="9525">
            <a:solidFill>
              <a:srgbClr val="CCD6D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9061704" y="1389888"/>
            <a:ext cx="2414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1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9061704" y="2029968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3D4D5C"/>
                </a:solidFill>
              </a:rPr>
              <a:t>RIESGO DE RESPALDO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9061704" y="2249424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D8D"/>
                </a:solidFill>
              </a:rPr>
              <a:t>último hace 1 918 h</a:t>
            </a:r>
            <a:endParaRPr lang="en-US" sz="1000" dirty="0"/>
          </a:p>
        </p:txBody>
      </p:sp>
      <p:sp>
        <p:nvSpPr>
          <p:cNvPr id="19" name="hallazgo-log"/>
          <p:cNvSpPr/>
          <p:nvPr/>
        </p:nvSpPr>
        <p:spPr>
          <a:xfrm>
            <a:off x="640080" y="2926080"/>
            <a:ext cx="5486400" cy="2788920"/>
          </a:xfrm>
          <a:prstGeom prst="roundRect">
            <a:avLst>
              <a:gd name="adj" fmla="val 1967"/>
            </a:avLst>
          </a:prstGeom>
          <a:solidFill>
            <a:srgbClr val="FBECEC"/>
          </a:solidFill>
          <a:ln w="9525">
            <a:solidFill>
              <a:srgbClr val="E5B8B8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868680" y="31272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7D1F1F"/>
                </a:solidFill>
              </a:rPr>
              <a:t>EL HALLAZGO QUE JUSTIFICA LA HERRAMIENTA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3456432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D1F1F"/>
                </a:solidFill>
              </a:rPr>
              <a:t>El log ocupa cuatro veces lo que ocupan los datos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416052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7D1F1F"/>
                </a:solidFill>
              </a:rPr>
              <a:t>La base usa modelo de recuperación FULL y su log no se respalda desde el 7 de agosto. SQL Server guarda cada operación esperando ese respaldo; como no ha vuelto a hacerse, el archivo sigue creciendo.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7D1F1F"/>
                </a:solidFill>
              </a:rPr>
              <a:t>Es exactamente el problema que el caso describía como «crecimiento acelerado del almacenamiento», y la consola lo detecta sola.</a:t>
            </a:r>
            <a:endParaRPr lang="en-US" sz="1250" dirty="0"/>
          </a:p>
        </p:txBody>
      </p:sp>
      <p:sp>
        <p:nvSpPr>
          <p:cNvPr id="23" name="bloque-Dos limitaciones que la consola explica en pantalla"/>
          <p:cNvSpPr/>
          <p:nvPr/>
        </p:nvSpPr>
        <p:spPr>
          <a:xfrm>
            <a:off x="6400800" y="2926080"/>
            <a:ext cx="5212080" cy="2788920"/>
          </a:xfrm>
          <a:prstGeom prst="roundRect">
            <a:avLst>
              <a:gd name="adj" fmla="val 1967"/>
            </a:avLst>
          </a:prstGeom>
          <a:solidFill>
            <a:srgbClr val="EDF1F4"/>
          </a:solidFill>
          <a:ln w="9525">
            <a:solidFill>
              <a:srgbClr val="CCD6DE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6601968" y="3072384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0A6A70"/>
                </a:solidFill>
              </a:rPr>
              <a:t>DOS LIMITACIONES QUE LA CONSOLA EXPLICA EN PANTALLA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601968" y="3364992"/>
            <a:ext cx="4809744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D5C"/>
                </a:solidFill>
              </a:rPr>
              <a:t>SQL Server no guarda histórico de tamaño: la herramienta registra capturas propias en dba.snapshot_almacenamiento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D5C"/>
                </a:solidFill>
              </a:rPr>
              <a:t>msdb.dbo.backupset solo registra respaldos exitosos; los fallos se detectan en el historial de jobs del Agente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Auditoría y mantenimiento preventivo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A6A70"/>
                </a:solidFill>
              </a:rPr>
              <a:t>MÓDULO 5 · AUDITORÍA</a:t>
            </a:r>
            <a:endParaRPr lang="en-US" sz="1100" dirty="0"/>
          </a:p>
        </p:txBody>
      </p:sp>
      <p:sp>
        <p:nvSpPr>
          <p:cNvPr id="4" name="diagnostico-seguridad"/>
          <p:cNvSpPr/>
          <p:nvPr/>
        </p:nvSpPr>
        <p:spPr>
          <a:xfrm>
            <a:off x="640080" y="1572768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BF4E5"/>
          </a:solidFill>
          <a:ln w="9525">
            <a:solidFill>
              <a:srgbClr val="E8D3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556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B4600"/>
                </a:solidFill>
              </a:rPr>
              <a:t>Puntos de atención detectados automáticamente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031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4600"/>
                </a:solidFill>
              </a:rPr>
              <a:t>Cuatro logins pertenecen al rol sysadmin · la cuenta 'sa' está habilitada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718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A6A70"/>
                </a:solidFill>
              </a:rPr>
              <a:t>MÓDULO 6 · MANTENIMIENTO PREVENTIVO</a:t>
            </a:r>
            <a:endParaRPr lang="en-US" sz="1100" dirty="0"/>
          </a:p>
        </p:txBody>
      </p:sp>
      <p:sp>
        <p:nvSpPr>
          <p:cNvPr id="8" name="tarjeta-Fragmentación"/>
          <p:cNvSpPr/>
          <p:nvPr/>
        </p:nvSpPr>
        <p:spPr>
          <a:xfrm>
            <a:off x="640080" y="3310128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EDF1F4"/>
          </a:solidFill>
          <a:ln w="9525">
            <a:solidFill>
              <a:srgbClr val="CCD6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419856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1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99,96 %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05993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3D4D5C"/>
                </a:solidFill>
              </a:rPr>
              <a:t>FRAGMENTACIÓN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2793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D8D"/>
                </a:solidFill>
              </a:rPr>
              <a:t>PK_Pronostico · reconstruir</a:t>
            </a:r>
            <a:endParaRPr lang="en-US" sz="1000" dirty="0"/>
          </a:p>
        </p:txBody>
      </p:sp>
      <p:sp>
        <p:nvSpPr>
          <p:cNvPr id="12" name="tarjeta-Última operación"/>
          <p:cNvSpPr/>
          <p:nvPr/>
        </p:nvSpPr>
        <p:spPr>
          <a:xfrm>
            <a:off x="3401568" y="3310128"/>
            <a:ext cx="2633472" cy="1371600"/>
          </a:xfrm>
          <a:prstGeom prst="roundRect">
            <a:avLst>
              <a:gd name="adj" fmla="val 4000"/>
            </a:avLst>
          </a:prstGeom>
          <a:solidFill>
            <a:srgbClr val="EDF1F4"/>
          </a:solidFill>
          <a:ln w="9525">
            <a:solidFill>
              <a:srgbClr val="CCD6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38728" y="3419856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 ms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3538728" y="4059936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3D4D5C"/>
                </a:solidFill>
              </a:rPr>
              <a:t>ÚLTIMA OPERACIÓN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538728" y="4279392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D8D"/>
                </a:solidFill>
              </a:rPr>
              <a:t>registrada en bitácora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846320"/>
            <a:ext cx="5394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3D4D5C"/>
                </a:solidFill>
              </a:rPr>
              <a:t>El único módulo que además de observar, actúa: recalcula estadísticas, valida módulos SQL y recompila objetos, dejando traza de cada operación.</a:t>
            </a:r>
            <a:endParaRPr lang="en-US" sz="1250" dirty="0"/>
          </a:p>
        </p:txBody>
      </p:sp>
      <p:sp>
        <p:nvSpPr>
          <p:cNvPr id="17" name="panel-oracle"/>
          <p:cNvSpPr/>
          <p:nvPr/>
        </p:nvSpPr>
        <p:spPr>
          <a:xfrm>
            <a:off x="6400800" y="1234440"/>
            <a:ext cx="5212080" cy="4480560"/>
          </a:xfrm>
          <a:prstGeom prst="roundRect">
            <a:avLst>
              <a:gd name="adj" fmla="val 1224"/>
            </a:avLst>
          </a:prstGeom>
          <a:solidFill>
            <a:srgbClr val="101A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75120" y="14630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8FB8BB"/>
                </a:solidFill>
              </a:rPr>
              <a:t>LA PREGUNTA MÁS PROBABLE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17830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¿Qué es un objeto inválido en SQL Server?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260604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CD6DE"/>
                </a:solidFill>
              </a:rPr>
              <a:t>Estrictamente, esa categoría no existe. Oracle marca los objetos como INVALID en su catálogo; SQL Server usa resolución diferida de nombres, así que un procedimiento cuya tabla base fue eliminada sigue existiendo en sys.objects y solo falla al ejecutarse.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39776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 herramienta lo aproxima de dos formas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43434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CD6DE"/>
                </a:solidFill>
              </a:rPr>
              <a:t>Detecta dependencias rotas con sys.sql_expression_dependencies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CD6DE"/>
                </a:solidFill>
              </a:rPr>
              <a:t>Refresca cada módulo con sp_refreshsqlmodule dentro de un TRY...CATCH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Repositorio y trabajo del equipo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72237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023360"/>
                <a:gridCol w="1097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spc="100" kern="0" dirty="0">
                          <a:solidFill>
                            <a:srgbClr val="FFFFFF"/>
                          </a:solidFill>
                        </a:rPr>
                        <a:t>INTEGRANTE</a:t>
                      </a:r>
                      <a:endParaRPr lang="en-US" sz="1050" dirty="0"/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spc="100" kern="0" dirty="0">
                          <a:solidFill>
                            <a:srgbClr val="FFFFFF"/>
                          </a:solidFill>
                        </a:rPr>
                        <a:t>APORTE</a:t>
                      </a:r>
                      <a:endParaRPr lang="en-US" sz="1050" dirty="0"/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spc="100" kern="0" dirty="0">
                          <a:solidFill>
                            <a:srgbClr val="FFFFFF"/>
                          </a:solidFill>
                        </a:rPr>
                        <a:t>FECHA</a:t>
                      </a:r>
                      <a:endParaRPr lang="en-US" sz="1050" dirty="0"/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1A24"/>
                          </a:solidFill>
                        </a:rPr>
                        <a:t>Kenneth Ramírez</a:t>
                      </a:r>
                      <a:endParaRPr lang="en-US" sz="1200" dirty="0"/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4D5C"/>
                          </a:solidFill>
                        </a:rPr>
                        <a:t>Estructura base, conexiones, componentes compartidos</a:t>
                      </a:r>
                      <a:endParaRPr lang="en-US" sz="1200" dirty="0"/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A6A70"/>
                          </a:solidFill>
                        </a:rPr>
                        <a:t>13 sep</a:t>
                      </a:r>
                      <a:endParaRPr lang="en-US" sz="1200" dirty="0"/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1A24"/>
                          </a:solidFill>
                        </a:rPr>
                        <a:t>Laura Fonseca</a:t>
                      </a:r>
                      <a:endParaRPr lang="en-US" sz="1200" dirty="0"/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4D5C"/>
                          </a:solidFill>
                        </a:rPr>
                        <a:t>Scripts SQL: base, esquema dba, procedimientos, permisos</a:t>
                      </a:r>
                      <a:endParaRPr lang="en-US" sz="1200" dirty="0"/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A6A70"/>
                          </a:solidFill>
                        </a:rPr>
                        <a:t>22 sep</a:t>
                      </a:r>
                      <a:endParaRPr lang="en-US" sz="1200" dirty="0"/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1A24"/>
                          </a:solidFill>
                        </a:rPr>
                        <a:t>Brenda Serrano</a:t>
                      </a:r>
                      <a:endParaRPr lang="en-US" sz="1200" dirty="0"/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4D5C"/>
                          </a:solidFill>
                        </a:rPr>
                        <a:t>Módulos 1 y 2 · instancia y rendimiento</a:t>
                      </a:r>
                      <a:endParaRPr lang="en-US" sz="1200" dirty="0"/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A6A70"/>
                          </a:solidFill>
                        </a:rPr>
                        <a:t>1 oct</a:t>
                      </a:r>
                      <a:endParaRPr lang="en-US" sz="1200" dirty="0"/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1A24"/>
                          </a:solidFill>
                        </a:rPr>
                        <a:t>Ahymara Ureña</a:t>
                      </a:r>
                      <a:endParaRPr lang="en-US" sz="1200" dirty="0"/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4D5C"/>
                          </a:solidFill>
                        </a:rPr>
                        <a:t>Módulos 3 y 4 · almacenamiento y respaldos</a:t>
                      </a:r>
                      <a:endParaRPr lang="en-US" sz="1200" dirty="0"/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A6A70"/>
                          </a:solidFill>
                        </a:rPr>
                        <a:t>9 oct</a:t>
                      </a:r>
                      <a:endParaRPr lang="en-US" sz="1200" dirty="0"/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1A24"/>
                          </a:solidFill>
                        </a:rPr>
                        <a:t>Mariana Villalobos</a:t>
                      </a:r>
                      <a:endParaRPr lang="en-US" sz="1200" dirty="0"/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4D5C"/>
                          </a:solidFill>
                        </a:rPr>
                        <a:t>Módulos 5 y 6 · auditoría, mantenimiento y ensamblaje</a:t>
                      </a:r>
                      <a:endParaRPr lang="en-US" sz="1200" dirty="0"/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A6A70"/>
                          </a:solidFill>
                        </a:rPr>
                        <a:t>17 oct</a:t>
                      </a:r>
                      <a:endParaRPr lang="en-US" sz="1200" dirty="0"/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" y="388620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3D4D5C"/>
                </a:solidFill>
              </a:rPr>
              <a:t>El historial cubre del 13 de septiembre al 24 de octubre, con aportes identificables de cada integrante desde su propia cuenta.</a:t>
            </a:r>
            <a:endParaRPr lang="en-US" sz="1250" dirty="0"/>
          </a:p>
        </p:txBody>
      </p:sp>
      <p:sp>
        <p:nvSpPr>
          <p:cNvPr id="5" name="bloque-El repositorio contiene"/>
          <p:cNvSpPr/>
          <p:nvPr/>
        </p:nvSpPr>
        <p:spPr>
          <a:xfrm>
            <a:off x="8138160" y="1325880"/>
            <a:ext cx="3474720" cy="3108960"/>
          </a:xfrm>
          <a:prstGeom prst="roundRect">
            <a:avLst>
              <a:gd name="adj" fmla="val 1765"/>
            </a:avLst>
          </a:prstGeom>
          <a:solidFill>
            <a:srgbClr val="EDF1F4"/>
          </a:solidFill>
          <a:ln w="9525">
            <a:solidFill>
              <a:srgbClr val="CCD6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39328" y="1472184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0A6A70"/>
                </a:solidFill>
              </a:rPr>
              <a:t>EL REPOSITORIO CONTIENE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8339328" y="1764792"/>
            <a:ext cx="3072384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D5C"/>
                </a:solidFill>
              </a:rPr>
              <a:t>Código fuente de la aplicación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D5C"/>
                </a:solidFill>
              </a:rPr>
              <a:t>Catálogo de consultas administrativas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D5C"/>
                </a:solidFill>
              </a:rPr>
              <a:t>Procedimientos, vistas y funciones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D5C"/>
                </a:solidFill>
              </a:rPr>
              <a:t>Scripts de instalación de la base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D5C"/>
                </a:solidFill>
              </a:rPr>
              <a:t>Configuración de ejemplo sin credenciales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D5C"/>
                </a:solidFill>
              </a:rPr>
              <a:t>README con arquitectura e instalación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4617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github.com/kennethRU/eif402-consola-dba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Lo que nos enseñó la instancia real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D4D5C"/>
                </a:solidFill>
              </a:rPr>
              <a:t>Estos cuatro problemas no aparecieron al escribir el código: aparecieron al conectar la herramienta contra una instancia con datos reales.</a:t>
            </a:r>
            <a:endParaRPr lang="en-US" sz="1400" dirty="0"/>
          </a:p>
        </p:txBody>
      </p:sp>
      <p:sp>
        <p:nvSpPr>
          <p:cNvPr id="4" name="aprendizaje-0"/>
          <p:cNvSpPr/>
          <p:nvPr/>
        </p:nvSpPr>
        <p:spPr>
          <a:xfrm>
            <a:off x="640080" y="1920240"/>
            <a:ext cx="5303520" cy="1737360"/>
          </a:xfrm>
          <a:prstGeom prst="roundRect">
            <a:avLst>
              <a:gd name="adj" fmla="val 3158"/>
            </a:avLst>
          </a:prstGeom>
          <a:solidFill>
            <a:srgbClr val="EDF1F4"/>
          </a:solidFill>
          <a:ln w="9525">
            <a:solidFill>
              <a:srgbClr val="CCD6DE"/>
            </a:solidFill>
            <a:prstDash val="solid"/>
          </a:ln>
        </p:spPr>
      </p:sp>
      <p:sp>
        <p:nvSpPr>
          <p:cNvPr id="5" name="num-ap-0"/>
          <p:cNvSpPr/>
          <p:nvPr/>
        </p:nvSpPr>
        <p:spPr>
          <a:xfrm>
            <a:off x="868680" y="2148840"/>
            <a:ext cx="384048" cy="384048"/>
          </a:xfrm>
          <a:prstGeom prst="ellipse">
            <a:avLst/>
          </a:prstGeom>
          <a:solidFill>
            <a:srgbClr val="0A6A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13969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1A24"/>
                </a:solidFill>
              </a:rPr>
              <a:t>Conflicto de intercalaciones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542032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D4D5C"/>
                </a:solidFill>
              </a:rPr>
              <a:t>Los principales de servidor usan la intercalación de la instancia y los de base de datos la de la base. Al unirlos con UNION ALL el motor falla con el error 451. Se resolvió con COLLATE DATABASE_DEFAULT, sin alterar la configuración del servidor.</a:t>
            </a:r>
            <a:endParaRPr lang="en-US" sz="1150" dirty="0"/>
          </a:p>
        </p:txBody>
      </p:sp>
      <p:sp>
        <p:nvSpPr>
          <p:cNvPr id="9" name="aprendizaje-1"/>
          <p:cNvSpPr/>
          <p:nvPr/>
        </p:nvSpPr>
        <p:spPr>
          <a:xfrm>
            <a:off x="6309360" y="1920240"/>
            <a:ext cx="5303520" cy="1737360"/>
          </a:xfrm>
          <a:prstGeom prst="roundRect">
            <a:avLst>
              <a:gd name="adj" fmla="val 3158"/>
            </a:avLst>
          </a:prstGeom>
          <a:solidFill>
            <a:srgbClr val="EDF1F4"/>
          </a:solidFill>
          <a:ln w="9525">
            <a:solidFill>
              <a:srgbClr val="CCD6DE"/>
            </a:solidFill>
            <a:prstDash val="solid"/>
          </a:ln>
        </p:spPr>
      </p:sp>
      <p:sp>
        <p:nvSpPr>
          <p:cNvPr id="10" name="num-ap-1"/>
          <p:cNvSpPr/>
          <p:nvPr/>
        </p:nvSpPr>
        <p:spPr>
          <a:xfrm>
            <a:off x="6537960" y="2148840"/>
            <a:ext cx="384048" cy="384048"/>
          </a:xfrm>
          <a:prstGeom prst="ellipse">
            <a:avLst/>
          </a:prstGeom>
          <a:solidFill>
            <a:srgbClr val="0A6A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13969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1A24"/>
                </a:solidFill>
              </a:rPr>
              <a:t>smallint llega como Short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2542032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D4D5C"/>
                </a:solidFill>
              </a:rPr>
              <a:t>blocking_session_id es smallint y el driver JDBC lo entrega como java.lang.Short. El casteo directo a Integer lanzaba ClassCastException y tumbaba el módulo 2 entero.</a:t>
            </a:r>
            <a:endParaRPr lang="en-US" sz="1150" dirty="0"/>
          </a:p>
        </p:txBody>
      </p:sp>
      <p:sp>
        <p:nvSpPr>
          <p:cNvPr id="14" name="aprendizaje-2"/>
          <p:cNvSpPr/>
          <p:nvPr/>
        </p:nvSpPr>
        <p:spPr>
          <a:xfrm>
            <a:off x="640080" y="3886200"/>
            <a:ext cx="5303520" cy="1737360"/>
          </a:xfrm>
          <a:prstGeom prst="roundRect">
            <a:avLst>
              <a:gd name="adj" fmla="val 3158"/>
            </a:avLst>
          </a:prstGeom>
          <a:solidFill>
            <a:srgbClr val="EDF1F4"/>
          </a:solidFill>
          <a:ln w="9525">
            <a:solidFill>
              <a:srgbClr val="CCD6DE"/>
            </a:solidFill>
            <a:prstDash val="solid"/>
          </a:ln>
        </p:spPr>
      </p:sp>
      <p:sp>
        <p:nvSpPr>
          <p:cNvPr id="15" name="num-ap-2"/>
          <p:cNvSpPr/>
          <p:nvPr/>
        </p:nvSpPr>
        <p:spPr>
          <a:xfrm>
            <a:off x="868680" y="4114800"/>
            <a:ext cx="384048" cy="384048"/>
          </a:xfrm>
          <a:prstGeom prst="ellipse">
            <a:avLst/>
          </a:prstGeom>
          <a:solidFill>
            <a:srgbClr val="0A6A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10565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1A24"/>
                </a:solidFill>
              </a:rPr>
              <a:t>Un permiso que no se hereda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507992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D4D5C"/>
                </a:solidFill>
              </a:rPr>
              <a:t>sys.sql_expression_dependencies exige GRANT SELECT explícito porque reside en la base de recursos del sistema. VIEW DEFINITION no alcanza, ni por esquema ni por base de datos.</a:t>
            </a:r>
            <a:endParaRPr lang="en-US" sz="1150" dirty="0"/>
          </a:p>
        </p:txBody>
      </p:sp>
      <p:sp>
        <p:nvSpPr>
          <p:cNvPr id="19" name="aprendizaje-3"/>
          <p:cNvSpPr/>
          <p:nvPr/>
        </p:nvSpPr>
        <p:spPr>
          <a:xfrm>
            <a:off x="6309360" y="3886200"/>
            <a:ext cx="5303520" cy="1737360"/>
          </a:xfrm>
          <a:prstGeom prst="roundRect">
            <a:avLst>
              <a:gd name="adj" fmla="val 3158"/>
            </a:avLst>
          </a:prstGeom>
          <a:solidFill>
            <a:srgbClr val="EDF1F4"/>
          </a:solidFill>
          <a:ln w="9525">
            <a:solidFill>
              <a:srgbClr val="CCD6DE"/>
            </a:solidFill>
            <a:prstDash val="solid"/>
          </a:ln>
        </p:spPr>
      </p:sp>
      <p:sp>
        <p:nvSpPr>
          <p:cNvPr id="20" name="num-ap-3"/>
          <p:cNvSpPr/>
          <p:nvPr/>
        </p:nvSpPr>
        <p:spPr>
          <a:xfrm>
            <a:off x="6537960" y="4114800"/>
            <a:ext cx="384048" cy="384048"/>
          </a:xfrm>
          <a:prstGeom prst="ellipse">
            <a:avLst/>
          </a:prstGeom>
          <a:solidFill>
            <a:srgbClr val="0A6A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3796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410565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1A24"/>
                </a:solidFill>
              </a:rPr>
              <a:t>Pseudo-tablas como falsos positivos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4507992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D4D5C"/>
                </a:solidFill>
              </a:rPr>
              <a:t>inserted y deleted solo existen durante la ejecución de un trigger, así que OBJECT_ID devuelve NULL y aparecían como dependencias rotas sobre triggers perfectamente sanos.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Seis módulos, una instancia real, cero datos simulados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56616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CD6DE"/>
                </a:solidFill>
              </a:rPr>
              <a:t>Toda la información proviene del catálogo del sistema y de las vistas de administración dinámica de SQL Server.</a:t>
            </a:r>
            <a:endParaRPr lang="en-US" sz="16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CD6DE"/>
                </a:solidFill>
              </a:rPr>
              <a:t> </a:t>
            </a:r>
            <a:endParaRPr lang="en-US" sz="16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Gracias. Quedamos atentos a sus preguntas.</a:t>
            </a:r>
            <a:endParaRPr lang="en-US" sz="1600" dirty="0"/>
          </a:p>
        </p:txBody>
      </p:sp>
      <p:sp>
        <p:nvSpPr>
          <p:cNvPr id="4" name="marca-cierre"/>
          <p:cNvSpPr/>
          <p:nvPr/>
        </p:nvSpPr>
        <p:spPr>
          <a:xfrm>
            <a:off x="822960" y="5760720"/>
            <a:ext cx="1463040" cy="41148"/>
          </a:xfrm>
          <a:prstGeom prst="rect">
            <a:avLst/>
          </a:prstGeom>
          <a:solidFill>
            <a:srgbClr val="0A6A70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ConsolaDBA">
  <a:themeElements>
    <a:clrScheme name="ConsolaDBA">
      <a:dk1>
        <a:srgbClr val="101A24"/>
      </a:dk1>
      <a:lt1>
        <a:srgbClr val="FFFFFF"/>
      </a:lt1>
      <a:dk2>
        <a:srgbClr val="3D4D5C"/>
      </a:dk2>
      <a:lt2>
        <a:srgbClr val="EDF1F4"/>
      </a:lt2>
      <a:accent1>
        <a:srgbClr val="0A6A70"/>
      </a:accent1>
      <a:accent2>
        <a:srgbClr val="1C7A4F"/>
      </a:accent2>
      <a:accent3>
        <a:srgbClr val="A56A00"/>
      </a:accent3>
      <a:accent4>
        <a:srgbClr val="A12B2B"/>
      </a:accent4>
      <a:accent5>
        <a:srgbClr val="6B7D8D"/>
      </a:accent5>
      <a:accent6>
        <a:srgbClr val="CCD6DE"/>
      </a:accent6>
      <a:hlink>
        <a:srgbClr val="0A6A70"/>
      </a:hlink>
      <a:folHlink>
        <a:srgbClr val="6B7D8D"/>
      </a:folHlink>
    </a:clrScheme>
    <a:fontScheme name="ConsolaDB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Universidad Nacional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Consola DBA para Microsoft SQL Server</dc:title>
  <dc:subject>PptxGenJS Presentation</dc:subject>
  <dc:creator>Grupo 2 - EIF402</dc:creator>
  <cp:lastModifiedBy>Grupo 2 - EIF402</cp:lastModifiedBy>
  <cp:revision>1</cp:revision>
  <dcterms:created xsi:type="dcterms:W3CDTF">2026-10-26T01:04:45Z</dcterms:created>
  <dcterms:modified xsi:type="dcterms:W3CDTF">2026-10-26T01:04:45Z</dcterms:modified>
</cp:coreProperties>
</file>